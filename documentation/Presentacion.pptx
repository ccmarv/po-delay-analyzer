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26" autoAdjust="0"/>
  </p:normalViewPr>
  <p:slideViewPr>
    <p:cSldViewPr snapToGrid="0" snapToObjects="1">
      <p:cViewPr varScale="1">
        <p:scale>
          <a:sx n="63" d="100"/>
          <a:sy n="63" d="100"/>
        </p:scale>
        <p:origin x="1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56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who is presenting, which evaluation this sits in (colloquium, mentor deliverable #106), and expected duration. Only moment to set the executive tone before the technical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14 points cover the 10 rubric criteria. The four (technical) slides directly answer the highest-weighted criterion — Delay Taxonomy &amp; Rule-Based Classification, 20% — which landed weak in v1. Every phase of the pipeline now gets its own technical evidence, not just the executive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source-of-truth point is the thesis that carries the whole project — state it slowly here, the rest of the presentation takes it as established. Source: explicacion-proyecto.en.md (Executive Summary, Phase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point a panelist may ask 'why don't you use the rule from the original README?' — the answer is here, with the two independent reasons for the discard, no need to improvise. Source: ARD-01/02/24.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inconsistency (~20%) is the hook that justifies the whole project — the gap the timestamp source of truth (Phase 1) closes. Connect both slides in delivery even though they share no on-screen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division of labor — rules do all the arithmetic, the LLM only drafts prose over an already-resolved diagnosis — because that is what makes the explanation auditable. Source: explicacion-proyecto.en.md (Phase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defend why the LLM 'doesn't hallucinate' to a skeptical panelist — prompt design and temperature measurement are reproducible evidence, not a promise. If asked why 0.9, the diversity table is in ARD-13. Source: ARD-11/12/13/14.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'Not hand-picked' is defensible with the sensitivity table in 02_clasif_reglas_negocio/README.md if a panelist asks why 24h and not another number. Source: explicacion-proyecto.en.md (Phase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'Indeterminate' is not a bucket for system errors — every PO in it has an auditable, distinct reason documented in the data itself (indeterminado_substage). Source: ARD-03b, ARD-07.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view used in the live demo — don't dwell on text, it will be shown running. The discriminant step in the differential panel is a good hook if a panelist asks 'so what does someone actually do with this?' — the answer is literally that field. Source: user_personas.en.md (Persona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tier-2 differential diagnosis: main hypothesis vs. alternative, and the discriminant step — the concrete datum that would decide between them. This is what an operator acts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view is the starting point of the live demo; the drill-down into Diego is literally the flow that will be shown. Source: user_personas.en.md (Persona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Demo slide — what will be shown live runs on exactly this data contract and design system, not on a mockup. Source: ARD-17/20/21.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step-by-step script lives in guion-demo.en.md — this slide is only the hook before switching to the real application. Flow: Ravi aggregate → drill-down → full diagnosis in Diego. No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asked, distinguish this bot (fixed commands, no LLM at query time, already in production) from the conversational diagnostic chatbot — open-ended reasoning over the dataset — which is explicitly deferred. Confusing the two would overstate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replaces v1's single loose '88%' on Conclusions with the three metrics the mentor actually measures against, plus the quality benchmark as a fourth. Denominators answer different questions — see metricas-proyecto.en.md. Source: metricas + validacion-y-qa.en.md (Layer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point is new and closes the argument that nothing shown is improvised — a complete documentation trail sits behind every figure and every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panelist asks 'why no dark mode?' or 'why not bilingual?', the answer is that it is a documented scope decision, not an oversight — committing to dates was evaluated and discarded (Option C of ARD-25) to avoid raising the presentation's risk with calendar promises. Source: ARD-25.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6813"/>
            <a:ext cx="16002000" cy="7953375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/>
          <a:effectLst>
            <a:outerShdw blurRad="857250" dist="32385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0" y="2214563"/>
            <a:ext cx="15087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0" y="2881313"/>
            <a:ext cx="1412748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en-US" sz="8400" b="1" kern="0" spc="-2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Delay Root Cause Analyzer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2286000" y="5395913"/>
            <a:ext cx="150876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approach to supply-chain delay diagnosis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2286000" y="6510338"/>
            <a:ext cx="2784872" cy="1562100"/>
          </a:xfrm>
          <a:prstGeom prst="roundRect">
            <a:avLst>
              <a:gd name="adj" fmla="val 853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05100" y="6796088"/>
            <a:ext cx="21413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05100" y="7462838"/>
            <a:ext cx="21413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· 39 columns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337572" y="6510338"/>
            <a:ext cx="2858839" cy="1562100"/>
          </a:xfrm>
          <a:prstGeom prst="roundRect">
            <a:avLst>
              <a:gd name="adj" fmla="val 853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756672" y="6796088"/>
            <a:ext cx="222270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88.8%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756672" y="7462838"/>
            <a:ext cx="22227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agreement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463111" y="6510338"/>
            <a:ext cx="2490788" cy="1562100"/>
          </a:xfrm>
          <a:prstGeom prst="roundRect">
            <a:avLst>
              <a:gd name="adj" fmla="val 853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882211" y="6796088"/>
            <a:ext cx="181784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882211" y="7462838"/>
            <a:ext cx="18178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accuracy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5430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047875"/>
            <a:ext cx="178117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sections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4290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57350" y="3352800"/>
            <a:ext cx="14434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29750" y="34290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039350" y="3352800"/>
            <a:ext cx="56156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View — exception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40386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57350" y="3962400"/>
            <a:ext cx="507291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Data Pipeline &amp; Quality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29750" y="40386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039350" y="3962400"/>
            <a:ext cx="49172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View — network intelligence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7750" y="46482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57350" y="4572000"/>
            <a:ext cx="123214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29750" y="46482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039350" y="4572000"/>
            <a:ext cx="526739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Application Architecture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47750" y="52578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657350" y="5181600"/>
            <a:ext cx="515640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decoupled architecture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29750" y="52578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039350" y="5181600"/>
            <a:ext cx="15362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47750" y="58674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657350" y="5791200"/>
            <a:ext cx="39899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LLM Integration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29750" y="58674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039350" y="5791200"/>
            <a:ext cx="31111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integration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47750" y="64770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657350" y="6400800"/>
            <a:ext cx="47235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&amp; classification rules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429750" y="64770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039350" y="6400800"/>
            <a:ext cx="30257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metrics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47750" y="70866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657350" y="7010400"/>
            <a:ext cx="472486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Classification Engine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429750" y="70866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039350" y="7010400"/>
            <a:ext cx="18253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47750" y="7696200"/>
            <a:ext cx="495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657350" y="7620000"/>
            <a:ext cx="34588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/ future work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47750" y="8439150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technical deep-dives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762125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266950"/>
            <a:ext cx="14716125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retrospective audit that classifies and explains PO delays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4114800"/>
            <a:ext cx="137350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 are the source of truth — not human annotation, which the mentor reports is ~20% wrong.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5486400"/>
            <a:ext cx="5219700" cy="303847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543050" y="5943600"/>
            <a:ext cx="465201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→ 247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543050" y="6696075"/>
            <a:ext cx="4652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analysed → late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43050" y="7096125"/>
            <a:ext cx="435597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columns; the 247 late POs are the population the system explains.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34150" y="5486400"/>
            <a:ext cx="5219700" cy="303847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029450" y="5943600"/>
            <a:ext cx="465201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~20%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7029450" y="6696075"/>
            <a:ext cx="4652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annotation is wrong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029450" y="7096125"/>
            <a:ext cx="435597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</a:t>
            </a: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REASON_DSC </a:t>
            </a: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treated as a claim to audit, not ground truth.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20550" y="5486400"/>
            <a:ext cx="5219700" cy="3038475"/>
          </a:xfrm>
          <a:prstGeom prst="roundRect">
            <a:avLst>
              <a:gd name="adj" fmla="val 5016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515850" y="5943600"/>
            <a:ext cx="465201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361 + 39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12515850" y="6696075"/>
            <a:ext cx="4652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+ flagged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515850" y="7096125"/>
            <a:ext cx="435597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without dropping rows: 12 temporal inversions + 27 missing trailer time, isolated by flag.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552998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TECHNICAL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057823"/>
            <a:ext cx="17811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&amp; Quality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4486573"/>
            <a:ext cx="5219700" cy="3247430"/>
          </a:xfrm>
          <a:prstGeom prst="roundRect">
            <a:avLst>
              <a:gd name="adj" fmla="val 469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7750" y="4486573"/>
            <a:ext cx="95250" cy="3247430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619250" y="4924723"/>
            <a:ext cx="458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Recalculated, not trusted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19250" y="5429548"/>
            <a:ext cx="4297109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 are recomputed from audit timestamps ( </a:t>
            </a:r>
            <a:r>
              <a:rPr lang="en-US" sz="2100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*_calc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never from the </a:t>
            </a:r>
            <a:r>
              <a:rPr lang="en-US" sz="2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precalc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— end-to-end traceability, no black box.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34150" y="4486573"/>
            <a:ext cx="5219700" cy="3247430"/>
          </a:xfrm>
          <a:prstGeom prst="roundRect">
            <a:avLst>
              <a:gd name="adj" fmla="val 469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534150" y="4486573"/>
            <a:ext cx="95250" cy="3247430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105650" y="4924723"/>
            <a:ext cx="458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Argmax, not fixed priority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05650" y="5429548"/>
            <a:ext cx="4297109" cy="1904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segments overlap, the primary is the largest excess over its own threshold. The rest survive in a multi-cause vector — not discarded.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20550" y="4486573"/>
            <a:ext cx="5219700" cy="3247430"/>
          </a:xfrm>
          <a:prstGeom prst="roundRect">
            <a:avLst>
              <a:gd name="adj" fmla="val 469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2020550" y="4486573"/>
            <a:ext cx="95250" cy="324743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592050" y="4924723"/>
            <a:ext cx="45891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"Late Shipment" discarded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92050" y="5429548"/>
            <a:ext cx="4297109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column doesn't exist; the proxy fires 0% on real data. Vendor blame is already covered by STA Push.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78584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983409"/>
            <a:ext cx="15206662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annotations, and LLMs that invent narratives over raw data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47750" y="5269409"/>
            <a:ext cx="542734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6202859"/>
            <a:ext cx="54273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inconsistency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6669584"/>
            <a:ext cx="508196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annotations blame the visible link and miss the real responsible stage.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600" y="5269409"/>
            <a:ext cx="9525" cy="253900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677025" y="5269409"/>
            <a:ext cx="54273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↯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677025" y="6221909"/>
            <a:ext cx="54273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narratives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677025" y="6688634"/>
            <a:ext cx="5081969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pointed at raw data produces plausible-sounding but unauditable prose.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953875" y="5269409"/>
            <a:ext cx="9525" cy="253900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2306300" y="5269409"/>
            <a:ext cx="542734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306300" y="6202859"/>
            <a:ext cx="54273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306300" y="6669584"/>
            <a:ext cx="508196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defensible root cause, corrective action targets the wrong party.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071688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576513"/>
            <a:ext cx="178117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architecture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595688"/>
            <a:ext cx="147161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separate the numerical ground truth from the narrative analysis: statistics diagnose, the LLM interprets.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47750" y="4872038"/>
            <a:ext cx="4787801" cy="2657475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485900" y="5291138"/>
            <a:ext cx="43026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85900" y="5691188"/>
            <a:ext cx="43026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ground truth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6138863"/>
            <a:ext cx="402884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arithmetic on dates and hours. Fully deterministic.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45101" y="4872038"/>
            <a:ext cx="571500" cy="269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6749951" y="4872038"/>
            <a:ext cx="4787950" cy="2657475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188101" y="5291138"/>
            <a:ext cx="43028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8101" y="5691188"/>
            <a:ext cx="4302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Interpret, never recompute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88101" y="6138863"/>
            <a:ext cx="402899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forbids recalculating figures and requires citing them verbatim.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747450" y="4872038"/>
            <a:ext cx="571500" cy="269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12452300" y="4872038"/>
            <a:ext cx="4787950" cy="2657475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2890450" y="5291138"/>
            <a:ext cx="43028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890450" y="5691188"/>
            <a:ext cx="43028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5-key JSON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90450" y="6138863"/>
            <a:ext cx="402899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· action · severity · reason match · confidence.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" y="7910512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Production: few-shot ×3 (Vendor · Carrier · DC) · temperature 0.9 · gpt-4o-mini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933724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TECHNICAL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438549"/>
            <a:ext cx="17811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3829199"/>
            <a:ext cx="7972425" cy="2316212"/>
          </a:xfrm>
          <a:prstGeom prst="roundRect">
            <a:avLst>
              <a:gd name="adj" fmla="val 6580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7750" y="3829199"/>
            <a:ext cx="95250" cy="2316212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581150" y="4229249"/>
            <a:ext cx="7700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design, hardened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81150" y="4695974"/>
            <a:ext cx="7210901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example per stage, plus a "HOW TO REASON" block: authority of </a:t>
            </a:r>
            <a:r>
              <a:rPr lang="en-US" sz="1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stage_primary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</a:t>
            </a:r>
            <a:r>
              <a:rPr lang="en-US" sz="1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REASON_DSC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the reverse.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67825" y="3829199"/>
            <a:ext cx="7972425" cy="2316212"/>
          </a:xfrm>
          <a:prstGeom prst="roundRect">
            <a:avLst>
              <a:gd name="adj" fmla="val 6580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9267825" y="3829199"/>
            <a:ext cx="95250" cy="2316212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801225" y="4229249"/>
            <a:ext cx="7700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swept 0.3 → 0.9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01225" y="4695974"/>
            <a:ext cx="7210901" cy="1087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hardening: no sensitivity — a prompt problem, not sampling. After: action diversity rose </a:t>
            </a:r>
            <a:r>
              <a:rPr lang="en-US" sz="1950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0.312 → 0.567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Production = </a:t>
            </a:r>
            <a:r>
              <a:rPr lang="en-US" sz="1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6393061"/>
            <a:ext cx="7972425" cy="1960066"/>
          </a:xfrm>
          <a:prstGeom prst="roundRect">
            <a:avLst>
              <a:gd name="adj" fmla="val 7775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047750" y="6393061"/>
            <a:ext cx="95250" cy="1960066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581150" y="6793111"/>
            <a:ext cx="7700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multi-provider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81150" y="7259836"/>
            <a:ext cx="721090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live only in </a:t>
            </a:r>
            <a:r>
              <a:rPr lang="en-US" sz="1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Backend is swappable: OpenAI, Claude, DeepSeek.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67825" y="6393061"/>
            <a:ext cx="7972425" cy="1960066"/>
          </a:xfrm>
          <a:prstGeom prst="roundRect">
            <a:avLst>
              <a:gd name="adj" fmla="val 7775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267825" y="6393061"/>
            <a:ext cx="95250" cy="1960066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9801225" y="6793111"/>
            <a:ext cx="77009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schema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01225" y="7259836"/>
            <a:ext cx="721090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5-key JSON that Phase 4 consumes downstream — no reshaping.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9621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466975"/>
            <a:ext cx="178117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stages, decided by excess over a window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3400425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are backed by sensitivity analysis, not hand-picked: vendor 24h · carrier 8h · yard 4h · dock 6h.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4181475"/>
            <a:ext cx="16192500" cy="2466975"/>
          </a:xfrm>
          <a:prstGeom prst="roundRect">
            <a:avLst>
              <a:gd name="adj" fmla="val 6178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543050" y="4600575"/>
            <a:ext cx="16722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over the 247 late POs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543050" y="5086350"/>
            <a:ext cx="7913340" cy="609600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752600" y="5086350"/>
            <a:ext cx="794119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 53.0%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56390" y="5086350"/>
            <a:ext cx="2507159" cy="609600"/>
          </a:xfrm>
          <a:prstGeom prst="rect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8790" y="5086350"/>
            <a:ext cx="243095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16.2%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63549" y="5086350"/>
            <a:ext cx="2332583" cy="609600"/>
          </a:xfrm>
          <a:prstGeom prst="rect">
            <a:avLst/>
          </a:prstGeom>
          <a:solidFill>
            <a:srgbClr val="009E7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2115949" y="5086350"/>
            <a:ext cx="225638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296132" y="5086350"/>
            <a:ext cx="2448818" cy="6096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4448532" y="5086350"/>
            <a:ext cx="237261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43050" y="5905500"/>
            <a:ext cx="16996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131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507284" y="5905500"/>
            <a:ext cx="14959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40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286375" y="5905500"/>
            <a:ext cx="9995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37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628805" y="5905500"/>
            <a:ext cx="71302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Indeterminate 39 (15 no-data + 24 no-dominant-cause)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6934200"/>
            <a:ext cx="16192500" cy="1390650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543050" y="7467600"/>
            <a:ext cx="2986742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severity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601170" y="7277100"/>
            <a:ext cx="125080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hot &amp; delay &gt; 3d · </a:t>
            </a: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&lt; 1d · </a:t>
            </a: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→ </a:t>
            </a:r>
            <a:r>
              <a:rPr lang="en-US" sz="2100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131 · LOW 82 · HIGH 34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80395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TECHNICAL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185220"/>
            <a:ext cx="17811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Engine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4575870"/>
            <a:ext cx="7962900" cy="3030736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7750" y="4575870"/>
            <a:ext cx="95250" cy="3030736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619250" y="5014020"/>
            <a:ext cx="76066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by direct signal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619250" y="5566470"/>
            <a:ext cx="7122605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 Push (</a:t>
            </a:r>
            <a:r>
              <a:rPr lang="en-US" sz="2175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APPROVED_DT &gt; STA_DT</a:t>
            </a: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covers </a:t>
            </a:r>
            <a:r>
              <a:rPr lang="en-US" sz="21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</a:t>
            </a: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dataset — including the 27 POs with no trailer record, which a residual model could not resolve.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277350" y="4575870"/>
            <a:ext cx="7962900" cy="3030736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9277350" y="4575870"/>
            <a:ext cx="95250" cy="3030736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848850" y="5014020"/>
            <a:ext cx="76066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Indeterminate, made auditable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48850" y="5566470"/>
            <a:ext cx="712260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exclusive sub-criteria: </a:t>
            </a:r>
            <a:r>
              <a:rPr lang="en-US" sz="21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sin_datos </a:t>
            </a: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(15, a datum is missing) vs. </a:t>
            </a:r>
            <a:r>
              <a:rPr lang="en-US" sz="217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sin_causa_dominante </a:t>
            </a: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(24, complete data, no segment over threshold). Never attribution by elimination.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1562100"/>
            <a:ext cx="6705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A · DIEGO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2019300"/>
            <a:ext cx="6705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kern="0" spc="-10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Workbench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857250" y="3009900"/>
            <a:ext cx="627888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management of late POs, case by case: search by number, then identity + diagnosis cards, then the life-cycle timeline with the responsible segment highlighted.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857250" y="4895850"/>
            <a:ext cx="2229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56395" y="4895850"/>
            <a:ext cx="59707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root cause: hypothesis, evidence, 3-step plan (immediate / corrective / preventive).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7250" y="5772150"/>
            <a:ext cx="2229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6395" y="5772150"/>
            <a:ext cx="59707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flag vs. human </a:t>
            </a: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REASON_DSC </a:t>
            </a: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disagreement is a finding, not an error.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7250" y="6648450"/>
            <a:ext cx="2229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56395" y="6648450"/>
            <a:ext cx="59707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 differential: alternate hypothesis + the discriminant step.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57250" y="7658100"/>
            <a:ext cx="4525119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247650" dist="952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143000" y="7943850"/>
            <a:ext cx="8651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5/5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2065288" y="7867650"/>
            <a:ext cx="312227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quality (20/20) vs. mentor threshold 4/5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486650" y="715863"/>
            <a:ext cx="9944100" cy="8855273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/>
          <a:effectLst>
            <a:outerShdw blurRad="419100" dist="17145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849213"/>
            <a:ext cx="9677400" cy="85885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23900"/>
            <a:ext cx="182308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DIEGO VIEW · TIER-2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1162050"/>
            <a:ext cx="182308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diagnosis (tier-2)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57250" y="2105025"/>
            <a:ext cx="16573500" cy="7458075"/>
          </a:xfrm>
          <a:prstGeom prst="roundRect">
            <a:avLst>
              <a:gd name="adj" fmla="val 2043"/>
            </a:avLst>
          </a:prstGeom>
          <a:solidFill>
            <a:srgbClr val="FFFFFF"/>
          </a:solidFill>
          <a:ln/>
          <a:effectLst>
            <a:outerShdw blurRad="419100" dist="17145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257425"/>
            <a:ext cx="16268700" cy="130148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1599307"/>
            <a:ext cx="6705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B · RAVI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57250" y="2056507"/>
            <a:ext cx="6705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100" b="1" kern="0" spc="-10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Intelligence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857250" y="3047107"/>
            <a:ext cx="627888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analysis of the whole late-PO population by systemic pattern: distribution by stage and severity, temporal trend, then entity scorecards for vendors, carriers and DCs.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857250" y="4933057"/>
            <a:ext cx="2229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56395" y="4933057"/>
            <a:ext cx="59707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AI-vs-human disagreement rate as a first-class KPI.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7250" y="5809357"/>
            <a:ext cx="2229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6395" y="5809357"/>
            <a:ext cx="597076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from the disagreement table straight into the Diego view.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57250" y="6799957"/>
            <a:ext cx="6096000" cy="1887587"/>
          </a:xfrm>
          <a:prstGeom prst="roundRect">
            <a:avLst>
              <a:gd name="adj" fmla="val 6055"/>
            </a:avLst>
          </a:prstGeom>
          <a:solidFill>
            <a:srgbClr val="EEF4FB"/>
          </a:solidFill>
          <a:ln w="9525">
            <a:solidFill>
              <a:srgbClr val="CFE0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152525" y="7038082"/>
            <a:ext cx="60559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FIGURES — DON'T CONFLATE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2525" y="7390507"/>
            <a:ext cx="5670614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</a:t>
            </a:r>
            <a:r>
              <a:rPr lang="en-US" sz="1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38.5%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is the per-PO </a:t>
            </a:r>
            <a:r>
              <a:rPr lang="en-US" sz="1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llm_coincide_con_reason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related to, but not the canonical </a:t>
            </a:r>
            <a:r>
              <a:rPr lang="en-US" sz="1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88.8%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agreement.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86650" y="1683395"/>
            <a:ext cx="9944100" cy="6919913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/>
          <a:effectLst>
            <a:outerShdw blurRad="419100" dist="17145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816745"/>
            <a:ext cx="9677400" cy="66532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788146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 · TECHNICAL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292971"/>
            <a:ext cx="17811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4683621"/>
            <a:ext cx="5219700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7750" y="4683621"/>
            <a:ext cx="95250" cy="2815233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600200" y="5102721"/>
            <a:ext cx="46310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F3→F4 contract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5588496"/>
            <a:ext cx="4336352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po_output.csv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33 cols: base 16 + tier-1 (8) + tier-2 (9). The app only reads — it never recomputes.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34150" y="4683621"/>
            <a:ext cx="5219700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534150" y="4683621"/>
            <a:ext cx="95250" cy="2815233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086600" y="5102721"/>
            <a:ext cx="46310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by task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86600" y="5588496"/>
            <a:ext cx="4336352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Okabe-Ito palette (color-blind safe) for stage; severity by luminance + icon. Munzner &amp; Cleveland-McGill, not aesthetics.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020550" y="4683621"/>
            <a:ext cx="5219700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2020550" y="4683621"/>
            <a:ext cx="95250" cy="2815233"/>
          </a:xfrm>
          <a:prstGeom prst="rect">
            <a:avLst/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2573000" y="5102721"/>
            <a:ext cx="46310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channel: Telegram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573000" y="5588496"/>
            <a:ext cx="4336352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commands (</a:t>
            </a:r>
            <a:r>
              <a:rPr lang="en-US" sz="2025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 /kpi /hot </a:t>
            </a: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over the same contract, no LLM at query time.</a:t>
            </a:r>
            <a:endParaRPr lang="en-US" sz="20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418457"/>
            <a:ext cx="69151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7250" y="2904232"/>
            <a:ext cx="6915150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850" b="1" kern="0" spc="-1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#100236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57250" y="4056757"/>
            <a:ext cx="6475095" cy="1754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BIOPLEX · Vendor · an urgent ("hot") PO, severity HIGH. The DC logged "Equipment/trailer issue" — the computation says Vendor, with a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94.5-hour </a:t>
            </a: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7250" y="6077843"/>
            <a:ext cx="1699171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66800" y="6211193"/>
            <a:ext cx="135627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pattern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746921" y="6358830"/>
            <a:ext cx="2363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097560" y="6077843"/>
            <a:ext cx="1485900" cy="85725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307110" y="6211193"/>
            <a:ext cx="1143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EA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drill-down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73960" y="6358830"/>
            <a:ext cx="2363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4599" y="6077843"/>
            <a:ext cx="2019151" cy="857250"/>
          </a:xfrm>
          <a:prstGeom prst="roundRect">
            <a:avLst>
              <a:gd name="adj" fmla="val 11111"/>
            </a:avLst>
          </a:prstGeom>
          <a:solidFill>
            <a:srgbClr val="1C6FD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334149" y="6211193"/>
            <a:ext cx="167625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Diego diagnosis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57250" y="7220843"/>
            <a:ext cx="647509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calls — everything reads from already-generated artifacts.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77150" y="2875657"/>
            <a:ext cx="9753600" cy="4535686"/>
          </a:xfrm>
          <a:prstGeom prst="roundRect">
            <a:avLst>
              <a:gd name="adj" fmla="val 3360"/>
            </a:avLst>
          </a:prstGeom>
          <a:solidFill>
            <a:srgbClr val="FFFFFF"/>
          </a:solidFill>
          <a:ln/>
          <a:effectLst>
            <a:outerShdw blurRad="571500" dist="2286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3009007"/>
            <a:ext cx="9486900" cy="42689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65214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 INTEGRATION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170039"/>
            <a:ext cx="178117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front-end over the same data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4189214"/>
            <a:ext cx="147161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gets a HOT alert without opening the browser. </a:t>
            </a:r>
            <a:r>
              <a:rPr lang="en-US" sz="2550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 100236 </a:t>
            </a:r>
            <a:r>
              <a:rPr lang="en-US" sz="25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with the same diagnosis as the Diego view — read from the same CSV.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47750" y="5465564"/>
            <a:ext cx="7962900" cy="2156222"/>
          </a:xfrm>
          <a:prstGeom prst="roundRect">
            <a:avLst>
              <a:gd name="adj" fmla="val 7068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524000" y="5903714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alerts, pushed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24000" y="6437114"/>
            <a:ext cx="722071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 HIGH-severity PO and sends the root cause automatically, with a direct link into the web app.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77350" y="5465564"/>
            <a:ext cx="7962900" cy="2156222"/>
          </a:xfrm>
          <a:prstGeom prst="roundRect">
            <a:avLst>
              <a:gd name="adj" fmla="val 7068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753600" y="5903714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commands, no LLM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53600" y="6437114"/>
            <a:ext cx="722071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deferred conversational chatbot — this is a query surface over the contract, already in production.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4668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&amp; METRICS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971675"/>
            <a:ext cx="178117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metrics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3133725"/>
            <a:ext cx="16192500" cy="4772025"/>
          </a:xfrm>
          <a:prstGeom prst="roundRect">
            <a:avLst>
              <a:gd name="adj" fmla="val 3194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7750" y="3133725"/>
            <a:ext cx="16192500" cy="8001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428750" y="3381375"/>
            <a:ext cx="65764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53450" y="3381375"/>
            <a:ext cx="3574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63351" y="3381375"/>
            <a:ext cx="42414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 THRESHOLD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924425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428750" y="4252913"/>
            <a:ext cx="65764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accuracy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53450" y="4252913"/>
            <a:ext cx="35741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(208/208)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763351" y="4219575"/>
            <a:ext cx="4241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 ✅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4933950"/>
            <a:ext cx="16192500" cy="981075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047750" y="5905500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428750" y="5243513"/>
            <a:ext cx="65764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agreement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53450" y="5243513"/>
            <a:ext cx="35741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88.8% (174/196)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763351" y="5219700"/>
            <a:ext cx="42414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finding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6905625"/>
            <a:ext cx="16192500" cy="95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428750" y="6234113"/>
            <a:ext cx="65764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ranking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53450" y="6234113"/>
            <a:ext cx="35741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(14/14)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763351" y="6200775"/>
            <a:ext cx="4241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95% ✅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47750" y="6915150"/>
            <a:ext cx="16192500" cy="990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428750" y="7234238"/>
            <a:ext cx="65764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explanation quality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53450" y="7234238"/>
            <a:ext cx="35741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5/5 (20/20)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763351" y="7200900"/>
            <a:ext cx="4241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 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47750" y="8210550"/>
            <a:ext cx="166782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4E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52713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3176588"/>
            <a:ext cx="16678275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decisions, not perceptions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5805488"/>
            <a:ext cx="10480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88.8%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2210098" y="5805488"/>
            <a:ext cx="63080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E2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agreement between the computation and the human expert.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001125" y="5805488"/>
            <a:ext cx="37549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↹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490918" y="5805488"/>
            <a:ext cx="700073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E2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separation of responsibilities: statistics diagnoses, the LLM interprets.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6862763"/>
            <a:ext cx="520898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82948" y="6862763"/>
            <a:ext cx="68509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E2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always serves instant answers — nothing is recomputed on the fly.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001125" y="6862763"/>
            <a:ext cx="520898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📎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636323" y="6862763"/>
            <a:ext cx="68509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E2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backed by formal, versioned documentation: SRS, SAD, and the full ADR record.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16671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78" dirty="0">
                <a:solidFill>
                  <a:srgbClr val="1C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/ FUTURE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2921496"/>
            <a:ext cx="178117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scope decisions, no date commitment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3854946"/>
            <a:ext cx="149123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is evaluated on the current app, not on promises. Dates were evaluated and discarded (Option C of ARD-25).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5055096"/>
            <a:ext cx="5232350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47750" y="5055096"/>
            <a:ext cx="95250" cy="281523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600200" y="5474196"/>
            <a:ext cx="46449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(ES/EN app)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5959971"/>
            <a:ext cx="4349381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fields are already code; the app assigns the label. The real cost is the LLM's free text, generated in Spanish.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27750" y="5055096"/>
            <a:ext cx="5232499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527750" y="5055096"/>
            <a:ext cx="95250" cy="281523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080200" y="5474196"/>
            <a:ext cx="46451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/ dark mode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80200" y="5959971"/>
            <a:ext cx="4349535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to light: Streamlit allows no instant manual CSS toggle. A faithful dark mode needs a presentation layer outside Streamlit.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07900" y="5055096"/>
            <a:ext cx="5232350" cy="2815233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/>
          <a:effectLst>
            <a:outerShdw blurRad="342900" dist="133350" dir="5400000" algn="bl" rotWithShape="0">
              <a:srgbClr val="0F172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2007900" y="5055096"/>
            <a:ext cx="95250" cy="281523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2560350" y="5474196"/>
            <a:ext cx="46449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chatbot (#160)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560350" y="5959971"/>
            <a:ext cx="4349381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Deferred, distinct from the delivered Telegram bot: open-ended Q&amp;A with the LLM reasoning over the dataset at query time.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2183</Words>
  <Application>Microsoft Office PowerPoint</Application>
  <PresentationFormat>Personalizado</PresentationFormat>
  <Paragraphs>235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Miguel Antonio Ruiz Vidaurri</cp:lastModifiedBy>
  <cp:revision>2</cp:revision>
  <dcterms:created xsi:type="dcterms:W3CDTF">2026-07-20T14:35:02Z</dcterms:created>
  <dcterms:modified xsi:type="dcterms:W3CDTF">2026-07-20T14:43:51Z</dcterms:modified>
</cp:coreProperties>
</file>