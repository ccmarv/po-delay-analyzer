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PO Delay Root Cause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8439" y="3657600"/>
            <a:ext cx="33103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rPr lang="es-ES" dirty="0"/>
              <a:t>Un enfoque Ejecutivo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882846" cy="32932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1. </a:t>
            </a:r>
            <a:r>
              <a:rPr dirty="0" err="1"/>
              <a:t>Resumen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2. </a:t>
            </a:r>
            <a:r>
              <a:rPr dirty="0" err="1"/>
              <a:t>Problemática</a:t>
            </a:r>
            <a:endParaRPr lang="es-ES"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3. </a:t>
            </a:r>
            <a:r>
              <a:rPr dirty="0" err="1"/>
              <a:t>Solución</a:t>
            </a:r>
            <a:endParaRPr lang="es-ES"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4. Vista Diego: </a:t>
            </a: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diaria</a:t>
            </a:r>
            <a:r>
              <a:rPr dirty="0"/>
              <a:t> de </a:t>
            </a:r>
            <a:r>
              <a:rPr dirty="0" err="1"/>
              <a:t>excepciones</a:t>
            </a:r>
            <a:r>
              <a:rPr lang="es-ES" dirty="0"/>
              <a:t>.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5. Vista Ravi: </a:t>
            </a:r>
            <a:r>
              <a:rPr dirty="0" err="1"/>
              <a:t>Inteligencia</a:t>
            </a:r>
            <a:r>
              <a:rPr dirty="0"/>
              <a:t> de red y scorecards de </a:t>
            </a:r>
            <a:r>
              <a:rPr dirty="0" err="1"/>
              <a:t>riesgo</a:t>
            </a:r>
            <a:r>
              <a:rPr lang="es-ES" dirty="0"/>
              <a:t>.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6. </a:t>
            </a:r>
            <a:r>
              <a:rPr dirty="0" err="1"/>
              <a:t>Integración</a:t>
            </a:r>
            <a:r>
              <a:rPr dirty="0"/>
              <a:t> Telegram: </a:t>
            </a:r>
            <a:r>
              <a:rPr dirty="0" err="1"/>
              <a:t>Notificaciones</a:t>
            </a:r>
            <a:r>
              <a:rPr dirty="0"/>
              <a:t> de </a:t>
            </a:r>
            <a:r>
              <a:rPr dirty="0" err="1"/>
              <a:t>riesgo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real</a:t>
            </a:r>
            <a:r>
              <a:rPr lang="es-ES" dirty="0"/>
              <a:t>.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7. </a:t>
            </a:r>
            <a:r>
              <a:rPr dirty="0" err="1"/>
              <a:t>Conclusiones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Resumen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5980" y="1371600"/>
            <a:ext cx="9334671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400">
                <a:solidFill>
                  <a:srgbClr val="323232"/>
                </a:solidFill>
              </a:defRPr>
            </a:pPr>
            <a:r>
              <a:rPr dirty="0"/>
              <a:t>El PO Delay Root Cause Analyzer es un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auditoría</a:t>
            </a:r>
            <a:r>
              <a:rPr dirty="0"/>
              <a:t> </a:t>
            </a:r>
            <a:r>
              <a:rPr dirty="0" err="1"/>
              <a:t>retrospectiva</a:t>
            </a:r>
            <a:r>
              <a:rPr dirty="0"/>
              <a:t> </a:t>
            </a:r>
            <a:endParaRPr lang="es-ES" dirty="0"/>
          </a:p>
          <a:p>
            <a:pPr algn="just">
              <a:defRPr sz="2400">
                <a:solidFill>
                  <a:srgbClr val="323232"/>
                </a:solidFill>
              </a:defRPr>
            </a:pPr>
            <a:r>
              <a:rPr dirty="0"/>
              <a:t>que </a:t>
            </a:r>
            <a:r>
              <a:rPr dirty="0" err="1"/>
              <a:t>identifica</a:t>
            </a:r>
            <a:r>
              <a:rPr dirty="0"/>
              <a:t>, </a:t>
            </a:r>
            <a:r>
              <a:rPr dirty="0" err="1"/>
              <a:t>clasifica</a:t>
            </a:r>
            <a:r>
              <a:rPr dirty="0"/>
              <a:t> y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retrasos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órdenes</a:t>
            </a:r>
            <a:r>
              <a:rPr dirty="0"/>
              <a:t> de </a:t>
            </a:r>
            <a:r>
              <a:rPr dirty="0" err="1"/>
              <a:t>compra</a:t>
            </a:r>
            <a:r>
              <a:rPr dirty="0"/>
              <a:t> (PO). </a:t>
            </a:r>
            <a:endParaRPr lang="es-ES" dirty="0"/>
          </a:p>
          <a:p>
            <a:pPr algn="just">
              <a:defRPr sz="2400">
                <a:solidFill>
                  <a:srgbClr val="323232"/>
                </a:solidFill>
              </a:defRPr>
            </a:pPr>
            <a:endParaRPr lang="es-MX" dirty="0"/>
          </a:p>
          <a:p>
            <a:pPr algn="just">
              <a:defRPr sz="2400">
                <a:solidFill>
                  <a:srgbClr val="323232"/>
                </a:solidFill>
              </a:defRPr>
            </a:pP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limpieza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reglas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deterministas</a:t>
            </a:r>
            <a:r>
              <a:rPr lang="es-ES" dirty="0"/>
              <a:t>, que </a:t>
            </a:r>
          </a:p>
          <a:p>
            <a:pPr algn="just">
              <a:defRPr sz="2400">
                <a:solidFill>
                  <a:srgbClr val="323232"/>
                </a:solidFill>
              </a:defRPr>
            </a:pPr>
            <a:r>
              <a:rPr lang="es-ES" dirty="0"/>
              <a:t>Innova incluyendo</a:t>
            </a:r>
            <a:r>
              <a:rPr dirty="0"/>
              <a:t> </a:t>
            </a:r>
            <a:r>
              <a:rPr dirty="0" err="1"/>
              <a:t>auditoría</a:t>
            </a:r>
            <a:r>
              <a:rPr dirty="0"/>
              <a:t> </a:t>
            </a:r>
            <a:r>
              <a:rPr dirty="0" err="1"/>
              <a:t>cognitiva</a:t>
            </a:r>
            <a:r>
              <a:rPr dirty="0"/>
              <a:t> con LLMs.</a:t>
            </a:r>
            <a:endParaRPr lang="es-ES" dirty="0"/>
          </a:p>
          <a:p>
            <a:pPr algn="just">
              <a:defRPr sz="2400">
                <a:solidFill>
                  <a:srgbClr val="323232"/>
                </a:solidFill>
              </a:defRPr>
            </a:pPr>
            <a:endParaRPr lang="es-MX" dirty="0"/>
          </a:p>
          <a:p>
            <a:pPr algn="just">
              <a:defRPr sz="2400">
                <a:solidFill>
                  <a:srgbClr val="323232"/>
                </a:solidFill>
              </a:defRPr>
            </a:pPr>
            <a:r>
              <a:rPr lang="es-ES" dirty="0"/>
              <a:t>Es una herramienta diseñada centrada en el usuario final.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519850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rPr lang="es-ES" sz="2400" dirty="0">
                <a:solidFill>
                  <a:srgbClr val="323232"/>
                </a:solidFill>
              </a:rPr>
              <a:t>❓ ¿Quién tiene la culpa y qué implica operativamente?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323232"/>
                </a:solidFill>
              </a:rPr>
              <a:t>Datos con ruido.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323232"/>
                </a:solidFill>
              </a:rPr>
              <a:t>Humanos registran motivos incorrectos para retrasos (</a:t>
            </a:r>
            <a:r>
              <a:rPr lang="es-ES" sz="2400" dirty="0" err="1">
                <a:solidFill>
                  <a:srgbClr val="323232"/>
                </a:solidFill>
              </a:rPr>
              <a:t>mismatch</a:t>
            </a:r>
            <a:r>
              <a:rPr lang="es-ES" sz="2400" dirty="0">
                <a:solidFill>
                  <a:srgbClr val="323232"/>
                </a:solidFill>
              </a:rPr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rgbClr val="323232"/>
                </a:solidFill>
              </a:rPr>
              <a:t>Inconsistencia</a:t>
            </a:r>
            <a:r>
              <a:rPr sz="2400" dirty="0">
                <a:solidFill>
                  <a:srgbClr val="323232"/>
                </a:solidFill>
              </a:rPr>
              <a:t> del ~20% </a:t>
            </a:r>
            <a:r>
              <a:rPr sz="2400" dirty="0" err="1">
                <a:solidFill>
                  <a:srgbClr val="323232"/>
                </a:solidFill>
              </a:rPr>
              <a:t>en</a:t>
            </a:r>
            <a:r>
              <a:rPr sz="2400" dirty="0">
                <a:solidFill>
                  <a:srgbClr val="323232"/>
                </a:solidFill>
              </a:rPr>
              <a:t> las </a:t>
            </a:r>
            <a:r>
              <a:rPr sz="2400" dirty="0" err="1">
                <a:solidFill>
                  <a:srgbClr val="323232"/>
                </a:solidFill>
              </a:rPr>
              <a:t>clasificaciones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humanas</a:t>
            </a:r>
            <a:r>
              <a:rPr sz="2400" dirty="0">
                <a:solidFill>
                  <a:srgbClr val="323232"/>
                </a:solidFill>
              </a:rPr>
              <a:t> de </a:t>
            </a:r>
            <a:r>
              <a:rPr sz="2400" dirty="0" err="1">
                <a:solidFill>
                  <a:srgbClr val="323232"/>
                </a:solidFill>
              </a:rPr>
              <a:t>retrasos</a:t>
            </a:r>
            <a:r>
              <a:rPr lang="es-ES" sz="2400" dirty="0">
                <a:solidFill>
                  <a:srgbClr val="323232"/>
                </a:solidFill>
              </a:rPr>
              <a:t>.</a:t>
            </a:r>
            <a:endParaRPr sz="24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323232"/>
                </a:solidFill>
              </a:rPr>
              <a:t>Las IA </a:t>
            </a:r>
            <a:r>
              <a:rPr sz="2400" dirty="0" err="1">
                <a:solidFill>
                  <a:srgbClr val="323232"/>
                </a:solidFill>
              </a:rPr>
              <a:t>sobre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datos</a:t>
            </a:r>
            <a:r>
              <a:rPr sz="2400" dirty="0">
                <a:solidFill>
                  <a:srgbClr val="323232"/>
                </a:solidFill>
              </a:rPr>
              <a:t> crudos </a:t>
            </a:r>
            <a:r>
              <a:rPr sz="2400" dirty="0" err="1">
                <a:solidFill>
                  <a:srgbClr val="323232"/>
                </a:solidFill>
              </a:rPr>
              <a:t>generan</a:t>
            </a:r>
            <a:r>
              <a:rPr sz="2400" dirty="0">
                <a:solidFill>
                  <a:srgbClr val="323232"/>
                </a:solidFill>
              </a:rPr>
              <a:t> '</a:t>
            </a:r>
            <a:r>
              <a:rPr sz="2400" dirty="0" err="1">
                <a:solidFill>
                  <a:srgbClr val="323232"/>
                </a:solidFill>
              </a:rPr>
              <a:t>alucinaciones</a:t>
            </a:r>
            <a:r>
              <a:rPr sz="2400" dirty="0">
                <a:solidFill>
                  <a:srgbClr val="323232"/>
                </a:solidFill>
              </a:rPr>
              <a:t>' y </a:t>
            </a:r>
            <a:r>
              <a:rPr sz="2400" dirty="0" err="1">
                <a:solidFill>
                  <a:srgbClr val="323232"/>
                </a:solidFill>
              </a:rPr>
              <a:t>narrativas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genéricas</a:t>
            </a:r>
            <a:r>
              <a:rPr lang="es-ES" sz="2400" dirty="0">
                <a:solidFill>
                  <a:srgbClr val="323232"/>
                </a:solidFill>
              </a:rPr>
              <a:t>.</a:t>
            </a:r>
            <a:endParaRPr sz="2400" dirty="0">
              <a:solidFill>
                <a:srgbClr val="323232"/>
              </a:solidFill>
            </a:endParaRPr>
          </a:p>
          <a:p>
            <a:endParaRPr lang="es-MX" sz="2400" dirty="0">
              <a:solidFill>
                <a:srgbClr val="323232"/>
              </a:solidFill>
            </a:endParaRPr>
          </a:p>
          <a:p>
            <a:endParaRPr lang="es-MX" sz="2400" dirty="0">
              <a:solidFill>
                <a:srgbClr val="323232"/>
              </a:solidFill>
            </a:endParaRPr>
          </a:p>
          <a:p>
            <a:endParaRPr lang="es-MX" sz="2400" dirty="0">
              <a:solidFill>
                <a:srgbClr val="323232"/>
              </a:solidFill>
            </a:endParaRPr>
          </a:p>
          <a:p>
            <a:endParaRPr lang="es-MX" sz="2400" dirty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060"/>
                </a:solidFill>
              </a:defRPr>
            </a:pPr>
            <a:r>
              <a:t>Solución: Arquitectura Desacoplada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650655" cy="3477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desacoplada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4 </a:t>
            </a:r>
            <a:r>
              <a:rPr dirty="0" err="1"/>
              <a:t>fases</a:t>
            </a:r>
            <a:r>
              <a:rPr dirty="0"/>
              <a:t> que </a:t>
            </a:r>
            <a:r>
              <a:rPr dirty="0" err="1"/>
              <a:t>separa</a:t>
            </a:r>
            <a:r>
              <a:rPr dirty="0"/>
              <a:t> la </a:t>
            </a:r>
            <a:r>
              <a:rPr dirty="0" err="1"/>
              <a:t>estadística</a:t>
            </a:r>
            <a:r>
              <a:rPr dirty="0"/>
              <a:t> del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narrativo</a:t>
            </a:r>
            <a:r>
              <a:rPr dirty="0"/>
              <a:t>.</a:t>
            </a:r>
          </a:p>
          <a:p>
            <a:endParaRPr sz="22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323232"/>
                </a:solidFill>
              </a:rPr>
              <a:t>La </a:t>
            </a:r>
            <a:r>
              <a:rPr sz="2200" dirty="0" err="1">
                <a:solidFill>
                  <a:srgbClr val="323232"/>
                </a:solidFill>
              </a:rPr>
              <a:t>estadística</a:t>
            </a:r>
            <a:r>
              <a:rPr sz="2200" dirty="0">
                <a:solidFill>
                  <a:srgbClr val="323232"/>
                </a:solidFill>
              </a:rPr>
              <a:t> </a:t>
            </a:r>
            <a:r>
              <a:rPr sz="2200" dirty="0" err="1">
                <a:solidFill>
                  <a:srgbClr val="323232"/>
                </a:solidFill>
              </a:rPr>
              <a:t>establece</a:t>
            </a:r>
            <a:r>
              <a:rPr sz="2200" dirty="0">
                <a:solidFill>
                  <a:srgbClr val="323232"/>
                </a:solidFill>
              </a:rPr>
              <a:t> </a:t>
            </a:r>
            <a:r>
              <a:rPr sz="2200" dirty="0" err="1">
                <a:solidFill>
                  <a:srgbClr val="323232"/>
                </a:solidFill>
              </a:rPr>
              <a:t>el</a:t>
            </a:r>
            <a:r>
              <a:rPr sz="2200" dirty="0">
                <a:solidFill>
                  <a:srgbClr val="323232"/>
                </a:solidFill>
              </a:rPr>
              <a:t> 'ground truth' </a:t>
            </a:r>
            <a:r>
              <a:rPr sz="2200" dirty="0" err="1">
                <a:solidFill>
                  <a:srgbClr val="323232"/>
                </a:solidFill>
              </a:rPr>
              <a:t>numérico</a:t>
            </a:r>
            <a:r>
              <a:rPr lang="es-ES" sz="2200" dirty="0">
                <a:solidFill>
                  <a:srgbClr val="323232"/>
                </a:solidFill>
              </a:rPr>
              <a:t>.</a:t>
            </a:r>
            <a:endParaRPr sz="22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323232"/>
                </a:solidFill>
              </a:rPr>
              <a:t>El LLM </a:t>
            </a:r>
            <a:r>
              <a:rPr sz="2200" dirty="0" err="1">
                <a:solidFill>
                  <a:srgbClr val="323232"/>
                </a:solidFill>
              </a:rPr>
              <a:t>actúa</a:t>
            </a:r>
            <a:r>
              <a:rPr sz="2200" dirty="0">
                <a:solidFill>
                  <a:srgbClr val="323232"/>
                </a:solidFill>
              </a:rPr>
              <a:t> </a:t>
            </a:r>
            <a:r>
              <a:rPr sz="2200" dirty="0" err="1">
                <a:solidFill>
                  <a:srgbClr val="323232"/>
                </a:solidFill>
              </a:rPr>
              <a:t>como</a:t>
            </a:r>
            <a:r>
              <a:rPr sz="2200" dirty="0">
                <a:solidFill>
                  <a:srgbClr val="323232"/>
                </a:solidFill>
              </a:rPr>
              <a:t> </a:t>
            </a:r>
            <a:r>
              <a:rPr sz="2200" dirty="0" err="1">
                <a:solidFill>
                  <a:srgbClr val="323232"/>
                </a:solidFill>
              </a:rPr>
              <a:t>el</a:t>
            </a:r>
            <a:r>
              <a:rPr sz="2200" dirty="0">
                <a:solidFill>
                  <a:srgbClr val="323232"/>
                </a:solidFill>
              </a:rPr>
              <a:t> </a:t>
            </a:r>
            <a:r>
              <a:rPr sz="2200" dirty="0" err="1">
                <a:solidFill>
                  <a:srgbClr val="323232"/>
                </a:solidFill>
              </a:rPr>
              <a:t>analista</a:t>
            </a:r>
            <a:r>
              <a:rPr sz="2200" dirty="0">
                <a:solidFill>
                  <a:srgbClr val="323232"/>
                </a:solidFill>
              </a:rPr>
              <a:t> que </a:t>
            </a:r>
            <a:r>
              <a:rPr sz="2200" dirty="0" err="1">
                <a:solidFill>
                  <a:srgbClr val="323232"/>
                </a:solidFill>
              </a:rPr>
              <a:t>interpreta</a:t>
            </a:r>
            <a:r>
              <a:rPr sz="2200" dirty="0">
                <a:solidFill>
                  <a:srgbClr val="323232"/>
                </a:solidFill>
              </a:rPr>
              <a:t> </a:t>
            </a:r>
            <a:r>
              <a:rPr sz="2200" dirty="0" err="1">
                <a:solidFill>
                  <a:srgbClr val="323232"/>
                </a:solidFill>
              </a:rPr>
              <a:t>el</a:t>
            </a:r>
            <a:r>
              <a:rPr sz="2200" dirty="0">
                <a:solidFill>
                  <a:srgbClr val="323232"/>
                </a:solidFill>
              </a:rPr>
              <a:t> </a:t>
            </a:r>
            <a:r>
              <a:rPr sz="2200" dirty="0" err="1">
                <a:solidFill>
                  <a:srgbClr val="323232"/>
                </a:solidFill>
              </a:rPr>
              <a:t>diagnóstico</a:t>
            </a:r>
            <a:r>
              <a:rPr lang="es-ES" sz="2200" dirty="0">
                <a:solidFill>
                  <a:srgbClr val="32323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rgbClr val="323232"/>
              </a:solidFill>
            </a:endParaRPr>
          </a:p>
          <a:p>
            <a:r>
              <a:rPr lang="es-ES" sz="2200" b="1" i="1" dirty="0">
                <a:solidFill>
                  <a:srgbClr val="323232"/>
                </a:solidFill>
              </a:rPr>
              <a:t> =  Aplicación intuitiva y accionable.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>
              <a:solidFill>
                <a:srgbClr val="323232"/>
              </a:solidFill>
            </a:endParaRPr>
          </a:p>
          <a:p>
            <a:endParaRPr sz="22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200" dirty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060"/>
                </a:solidFill>
              </a:defRPr>
            </a:pPr>
            <a:r>
              <a:t>View Diego · Exception Coordinator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56395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rPr dirty="0" err="1"/>
              <a:t>Enfoque</a:t>
            </a:r>
            <a:r>
              <a:rPr dirty="0"/>
              <a:t>: </a:t>
            </a:r>
            <a:r>
              <a:rPr dirty="0" err="1"/>
              <a:t>Gestión</a:t>
            </a:r>
            <a:r>
              <a:rPr dirty="0"/>
              <a:t> individual de POs</a:t>
            </a:r>
            <a:endParaRPr sz="2400" dirty="0">
              <a:solidFill>
                <a:srgbClr val="323232"/>
              </a:solidFill>
            </a:endParaRPr>
          </a:p>
          <a:p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Exception Workbench: timelines </a:t>
            </a:r>
            <a:r>
              <a:rPr sz="2400" dirty="0" err="1">
                <a:solidFill>
                  <a:srgbClr val="323232"/>
                </a:solidFill>
              </a:rPr>
              <a:t>visuales</a:t>
            </a:r>
            <a:r>
              <a:rPr lang="es-ES" sz="2400" dirty="0">
                <a:solidFill>
                  <a:srgbClr val="323232"/>
                </a:solidFill>
              </a:rPr>
              <a:t>,</a:t>
            </a:r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Causa </a:t>
            </a:r>
            <a:r>
              <a:rPr sz="2400" dirty="0" err="1">
                <a:solidFill>
                  <a:srgbClr val="323232"/>
                </a:solidFill>
              </a:rPr>
              <a:t>raíz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redactada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por</a:t>
            </a:r>
            <a:r>
              <a:rPr sz="2400" dirty="0">
                <a:solidFill>
                  <a:srgbClr val="323232"/>
                </a:solidFill>
              </a:rPr>
              <a:t> la IA</a:t>
            </a:r>
            <a:r>
              <a:rPr lang="es-ES" sz="2400" dirty="0">
                <a:solidFill>
                  <a:srgbClr val="323232"/>
                </a:solidFill>
              </a:rPr>
              <a:t>,</a:t>
            </a:r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Planes de </a:t>
            </a:r>
            <a:r>
              <a:rPr sz="2400" dirty="0" err="1">
                <a:solidFill>
                  <a:srgbClr val="323232"/>
                </a:solidFill>
              </a:rPr>
              <a:t>acción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sugeridos</a:t>
            </a:r>
            <a:r>
              <a:rPr lang="es-ES" sz="2400" dirty="0">
                <a:solidFill>
                  <a:srgbClr val="323232"/>
                </a:solidFill>
              </a:rPr>
              <a:t> por el </a:t>
            </a:r>
            <a:r>
              <a:rPr lang="es-ES" sz="2400" dirty="0" err="1">
                <a:solidFill>
                  <a:srgbClr val="323232"/>
                </a:solidFill>
              </a:rPr>
              <a:t>llm</a:t>
            </a:r>
            <a:r>
              <a:rPr lang="es-ES" sz="2400" dirty="0">
                <a:solidFill>
                  <a:srgbClr val="323232"/>
                </a:solidFill>
              </a:rPr>
              <a:t>.</a:t>
            </a:r>
            <a:endParaRPr sz="2400" dirty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060"/>
                </a:solidFill>
              </a:defRPr>
            </a:pPr>
            <a:r>
              <a:t>View Ravi · Network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89161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rPr dirty="0" err="1"/>
              <a:t>Enfoque</a:t>
            </a:r>
            <a:r>
              <a:rPr dirty="0"/>
              <a:t>: </a:t>
            </a:r>
            <a:r>
              <a:rPr dirty="0" err="1"/>
              <a:t>Análisis</a:t>
            </a:r>
            <a:r>
              <a:rPr dirty="0"/>
              <a:t> macro y </a:t>
            </a:r>
            <a:r>
              <a:rPr dirty="0" err="1"/>
              <a:t>estratégico</a:t>
            </a:r>
            <a:endParaRPr sz="2400" dirty="0">
              <a:solidFill>
                <a:srgbClr val="323232"/>
              </a:solidFill>
            </a:endParaRPr>
          </a:p>
          <a:p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3 </a:t>
            </a:r>
            <a:r>
              <a:rPr sz="2400" dirty="0" err="1">
                <a:solidFill>
                  <a:srgbClr val="323232"/>
                </a:solidFill>
              </a:rPr>
              <a:t>agentes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especializados</a:t>
            </a:r>
            <a:r>
              <a:rPr sz="2400" dirty="0">
                <a:solidFill>
                  <a:srgbClr val="323232"/>
                </a:solidFill>
              </a:rPr>
              <a:t>: Vendor, Carrier, DC</a:t>
            </a:r>
            <a:r>
              <a:rPr lang="es-ES" sz="2400" dirty="0">
                <a:solidFill>
                  <a:srgbClr val="323232"/>
                </a:solidFill>
              </a:rPr>
              <a:t>.</a:t>
            </a:r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</a:t>
            </a:r>
            <a:r>
              <a:rPr sz="2400" dirty="0" err="1">
                <a:solidFill>
                  <a:srgbClr val="323232"/>
                </a:solidFill>
              </a:rPr>
              <a:t>Reportes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ejecutivos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basados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en</a:t>
            </a:r>
            <a:r>
              <a:rPr sz="2400" dirty="0">
                <a:solidFill>
                  <a:srgbClr val="323232"/>
                </a:solidFill>
              </a:rPr>
              <a:t> scorecards </a:t>
            </a:r>
            <a:r>
              <a:rPr sz="2400" dirty="0" err="1">
                <a:solidFill>
                  <a:srgbClr val="323232"/>
                </a:solidFill>
              </a:rPr>
              <a:t>estadísticos</a:t>
            </a:r>
            <a:r>
              <a:rPr lang="es-ES" sz="2400" dirty="0">
                <a:solidFill>
                  <a:srgbClr val="323232"/>
                </a:solidFill>
              </a:rPr>
              <a:t>.</a:t>
            </a:r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</a:t>
            </a:r>
            <a:r>
              <a:rPr sz="2400" dirty="0" err="1">
                <a:solidFill>
                  <a:srgbClr val="323232"/>
                </a:solidFill>
              </a:rPr>
              <a:t>Identifica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entidades</a:t>
            </a:r>
            <a:r>
              <a:rPr sz="2400" dirty="0">
                <a:solidFill>
                  <a:srgbClr val="323232"/>
                </a:solidFill>
              </a:rPr>
              <a:t> de alto </a:t>
            </a:r>
            <a:r>
              <a:rPr sz="2400" dirty="0" err="1">
                <a:solidFill>
                  <a:srgbClr val="323232"/>
                </a:solidFill>
              </a:rPr>
              <a:t>riesgo</a:t>
            </a:r>
            <a:r>
              <a:rPr lang="es-ES" sz="2400" dirty="0">
                <a:solidFill>
                  <a:srgbClr val="323232"/>
                </a:solidFill>
              </a:rPr>
              <a:t>, ofrece análisis y acciones recomendadas.</a:t>
            </a:r>
            <a:endParaRPr sz="2400" dirty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2060"/>
                </a:solidFill>
              </a:defRPr>
            </a:pPr>
            <a:r>
              <a:t>Integración Telegram · Alertas de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637505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rPr dirty="0"/>
              <a:t>Bot de </a:t>
            </a:r>
            <a:r>
              <a:rPr dirty="0" err="1"/>
              <a:t>Alertas</a:t>
            </a:r>
            <a:r>
              <a:rPr dirty="0"/>
              <a:t> de </a:t>
            </a:r>
            <a:r>
              <a:rPr dirty="0" err="1"/>
              <a:t>Riesgo</a:t>
            </a:r>
            <a:endParaRPr dirty="0"/>
          </a:p>
          <a:p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</a:t>
            </a:r>
            <a:r>
              <a:rPr sz="2400" dirty="0" err="1">
                <a:solidFill>
                  <a:srgbClr val="323232"/>
                </a:solidFill>
              </a:rPr>
              <a:t>Detección</a:t>
            </a:r>
            <a:r>
              <a:rPr sz="2400" dirty="0">
                <a:solidFill>
                  <a:srgbClr val="323232"/>
                </a:solidFill>
              </a:rPr>
              <a:t> de PO con </a:t>
            </a:r>
            <a:r>
              <a:rPr sz="2400" dirty="0" err="1">
                <a:solidFill>
                  <a:srgbClr val="323232"/>
                </a:solidFill>
              </a:rPr>
              <a:t>severidad</a:t>
            </a:r>
            <a:r>
              <a:rPr sz="2400" dirty="0">
                <a:solidFill>
                  <a:srgbClr val="323232"/>
                </a:solidFill>
              </a:rPr>
              <a:t> 'HIGH'</a:t>
            </a:r>
            <a:r>
              <a:rPr lang="es-ES" sz="2400" dirty="0">
                <a:solidFill>
                  <a:srgbClr val="323232"/>
                </a:solidFill>
              </a:rPr>
              <a:t>,</a:t>
            </a:r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</a:t>
            </a:r>
            <a:r>
              <a:rPr sz="2400" dirty="0" err="1">
                <a:solidFill>
                  <a:srgbClr val="323232"/>
                </a:solidFill>
              </a:rPr>
              <a:t>Mensaje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automático</a:t>
            </a:r>
            <a:r>
              <a:rPr sz="2400" dirty="0">
                <a:solidFill>
                  <a:srgbClr val="323232"/>
                </a:solidFill>
              </a:rPr>
              <a:t> con causa </a:t>
            </a:r>
            <a:r>
              <a:rPr sz="2400" dirty="0" err="1">
                <a:solidFill>
                  <a:srgbClr val="323232"/>
                </a:solidFill>
              </a:rPr>
              <a:t>raíz</a:t>
            </a:r>
            <a:r>
              <a:rPr lang="es-ES" sz="2400" dirty="0">
                <a:solidFill>
                  <a:srgbClr val="323232"/>
                </a:solidFill>
              </a:rPr>
              <a:t>,</a:t>
            </a:r>
            <a:endParaRPr sz="2400" dirty="0">
              <a:solidFill>
                <a:srgbClr val="323232"/>
              </a:solidFill>
            </a:endParaRPr>
          </a:p>
          <a:p>
            <a:r>
              <a:rPr sz="2400" dirty="0">
                <a:solidFill>
                  <a:srgbClr val="323232"/>
                </a:solidFill>
              </a:rPr>
              <a:t>• Enlace </a:t>
            </a:r>
            <a:r>
              <a:rPr sz="2400" dirty="0" err="1">
                <a:solidFill>
                  <a:srgbClr val="323232"/>
                </a:solidFill>
              </a:rPr>
              <a:t>directo</a:t>
            </a:r>
            <a:r>
              <a:rPr sz="2400" dirty="0">
                <a:solidFill>
                  <a:srgbClr val="323232"/>
                </a:solidFill>
              </a:rPr>
              <a:t> a</a:t>
            </a:r>
            <a:r>
              <a:rPr lang="es-ES" sz="2400" dirty="0">
                <a:solidFill>
                  <a:srgbClr val="323232"/>
                </a:solidFill>
              </a:rPr>
              <a:t> la aplicación web y datos.</a:t>
            </a:r>
            <a:endParaRPr sz="2400" dirty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2060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61912" cy="2954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323232"/>
                </a:solidFill>
              </a:rPr>
              <a:t>Decisiones basadas en datos, no en percepciones.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323232"/>
                </a:solidFill>
              </a:rPr>
              <a:t>Tasa de </a:t>
            </a:r>
            <a:r>
              <a:rPr sz="2400" dirty="0" err="1">
                <a:solidFill>
                  <a:srgbClr val="323232"/>
                </a:solidFill>
              </a:rPr>
              <a:t>acuerdo</a:t>
            </a:r>
            <a:r>
              <a:rPr sz="2400" dirty="0">
                <a:solidFill>
                  <a:srgbClr val="323232"/>
                </a:solidFill>
              </a:rPr>
              <a:t> del 88% entre IA y </a:t>
            </a:r>
            <a:r>
              <a:rPr sz="2400" dirty="0" err="1">
                <a:solidFill>
                  <a:srgbClr val="323232"/>
                </a:solidFill>
              </a:rPr>
              <a:t>experto</a:t>
            </a:r>
            <a:r>
              <a:rPr sz="2400" dirty="0">
                <a:solidFill>
                  <a:srgbClr val="323232"/>
                </a:solidFill>
              </a:rPr>
              <a:t> </a:t>
            </a:r>
            <a:r>
              <a:rPr sz="2400" dirty="0" err="1">
                <a:solidFill>
                  <a:srgbClr val="323232"/>
                </a:solidFill>
              </a:rPr>
              <a:t>humano</a:t>
            </a:r>
            <a:r>
              <a:rPr lang="es-ES" sz="2400" dirty="0">
                <a:solidFill>
                  <a:srgbClr val="32323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323232"/>
                </a:solidFill>
              </a:defRPr>
            </a:pPr>
            <a:r>
              <a:rPr lang="es-ES" sz="2400" dirty="0">
                <a:solidFill>
                  <a:srgbClr val="323232"/>
                </a:solidFill>
              </a:rPr>
              <a:t>Separación total de responsabilidades: Estadística diagnostica · LLM interpreta.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32323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err="1">
                <a:solidFill>
                  <a:srgbClr val="323232"/>
                </a:solidFill>
              </a:rPr>
              <a:t>Dashboard</a:t>
            </a:r>
            <a:r>
              <a:rPr lang="es-ES" sz="2400" dirty="0">
                <a:solidFill>
                  <a:srgbClr val="323232"/>
                </a:solidFill>
              </a:rPr>
              <a:t> siempre sirve información instantánea.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360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 Esther Bautista</cp:lastModifiedBy>
  <cp:revision>24</cp:revision>
  <dcterms:created xsi:type="dcterms:W3CDTF">2013-01-27T09:14:16Z</dcterms:created>
  <dcterms:modified xsi:type="dcterms:W3CDTF">2026-07-17T20:25:15Z</dcterms:modified>
  <cp:category/>
</cp:coreProperties>
</file>